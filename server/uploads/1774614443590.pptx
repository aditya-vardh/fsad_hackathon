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4" r:id="rId3"/>
    <p:sldId id="258" r:id="rId4"/>
    <p:sldId id="265" r:id="rId5"/>
    <p:sldId id="259" r:id="rId6"/>
    <p:sldId id="262" r:id="rId7"/>
    <p:sldId id="269" r:id="rId8"/>
    <p:sldId id="266" r:id="rId9"/>
    <p:sldId id="26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3/27/2026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transition spd="med">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3/27/2026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transition spd="med">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3/27/2026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transition spd="med">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3/27/2026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transition spd="med">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3/27/2026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transition spd="med">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3/27/2026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transition spd="med">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3/27/2026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transition spd="med">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3/27/2026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transition spd="med">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3/27/2026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transition spd="med">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3/27/2026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transition spd="med">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3/27/2026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transition spd="med">
    <p:wip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10793" y="761565"/>
            <a:ext cx="9144000" cy="251062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3200" b="1" dirty="0">
                <a:solidFill>
                  <a:srgbClr val="C00000"/>
                </a:solidFill>
                <a:latin typeface="+mn-lt"/>
              </a:rPr>
              <a:t>Full Stack Application Development</a:t>
            </a:r>
            <a:br>
              <a:rPr lang="en-US" sz="3200" b="1" dirty="0">
                <a:solidFill>
                  <a:srgbClr val="C00000"/>
                </a:solidFill>
                <a:latin typeface="+mn-lt"/>
              </a:rPr>
            </a:br>
            <a:r>
              <a:rPr lang="en-US" sz="3200" b="1" dirty="0">
                <a:solidFill>
                  <a:srgbClr val="C00000"/>
                </a:solidFill>
                <a:latin typeface="+mn-lt"/>
              </a:rPr>
              <a:t>(24SDCS02)</a:t>
            </a:r>
            <a:br>
              <a:rPr lang="en-US" sz="4000" b="1" dirty="0">
                <a:solidFill>
                  <a:srgbClr val="C00000"/>
                </a:solidFill>
                <a:latin typeface="+mn-lt"/>
              </a:rPr>
            </a:br>
            <a:br>
              <a:rPr lang="en-US" sz="4000" b="1" dirty="0">
                <a:solidFill>
                  <a:srgbClr val="C00000"/>
                </a:solidFill>
                <a:latin typeface="+mn-lt"/>
              </a:rPr>
            </a:br>
            <a:r>
              <a:rPr lang="en-US" sz="3200" b="1" dirty="0">
                <a:solidFill>
                  <a:srgbClr val="C00000"/>
                </a:solidFill>
                <a:latin typeface="+mn-lt"/>
              </a:rPr>
              <a:t>Airline Customer Feedback And Compliant Resolution System</a:t>
            </a:r>
            <a:endParaRPr lang="en-US" sz="4000" b="1" dirty="0">
              <a:solidFill>
                <a:srgbClr val="C00000"/>
              </a:solidFill>
              <a:latin typeface="+mn-lt"/>
            </a:endParaRPr>
          </a:p>
        </p:txBody>
      </p:sp>
      <p:sp>
        <p:nvSpPr>
          <p:cNvPr id="3" name="Subtitle 2"/>
          <p:cNvSpPr>
            <a:spLocks noGrp="1"/>
          </p:cNvSpPr>
          <p:nvPr>
            <p:ph type="subTitle" idx="1"/>
          </p:nvPr>
        </p:nvSpPr>
        <p:spPr>
          <a:xfrm>
            <a:off x="5256233" y="3528343"/>
            <a:ext cx="2453120" cy="369107"/>
          </a:xfrm>
        </p:spPr>
        <p:txBody>
          <a:bodyPr/>
          <a:lstStyle/>
          <a:p>
            <a:r>
              <a:rPr lang="en-US" b="1" dirty="0">
                <a:solidFill>
                  <a:srgbClr val="0070C0"/>
                </a:solidFill>
              </a:rPr>
              <a:t>Team Members</a:t>
            </a:r>
          </a:p>
          <a:p>
            <a:endParaRPr lang="en-US" b="1" dirty="0">
              <a:solidFill>
                <a:srgbClr val="C00000"/>
              </a:solidFill>
            </a:endParaRPr>
          </a:p>
        </p:txBody>
      </p:sp>
      <p:sp>
        <p:nvSpPr>
          <p:cNvPr id="9" name="TextBox 8">
            <a:extLst>
              <a:ext uri="{FF2B5EF4-FFF2-40B4-BE49-F238E27FC236}">
                <a16:creationId xmlns:a16="http://schemas.microsoft.com/office/drawing/2014/main" id="{71EA4928-8D0C-6D9F-EC5A-A47C71CC201A}"/>
              </a:ext>
            </a:extLst>
          </p:cNvPr>
          <p:cNvSpPr txBox="1"/>
          <p:nvPr/>
        </p:nvSpPr>
        <p:spPr>
          <a:xfrm>
            <a:off x="3249403" y="5617505"/>
            <a:ext cx="5693194" cy="774507"/>
          </a:xfrm>
          <a:prstGeom prst="rect">
            <a:avLst/>
          </a:prstGeom>
          <a:noFill/>
        </p:spPr>
        <p:txBody>
          <a:bodyPr wrap="square" rtlCol="0">
            <a:spAutoFit/>
          </a:bodyPr>
          <a:lstStyle/>
          <a:p>
            <a:pPr marL="171450" algn="ctr">
              <a:lnSpc>
                <a:spcPct val="107000"/>
              </a:lnSpc>
              <a:spcAft>
                <a:spcPts val="800"/>
              </a:spcAft>
            </a:pPr>
            <a:r>
              <a:rPr lang="en-US"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kern="100" dirty="0">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IN" b="1" dirty="0"/>
              <a:t>Dr. S. Spandana</a:t>
            </a:r>
          </a:p>
        </p:txBody>
      </p:sp>
      <p:sp>
        <p:nvSpPr>
          <p:cNvPr id="10" name="Rectangle 9"/>
          <p:cNvSpPr/>
          <p:nvPr/>
        </p:nvSpPr>
        <p:spPr>
          <a:xfrm>
            <a:off x="548640" y="3840480"/>
            <a:ext cx="1828800" cy="1463040"/>
          </a:xfrm>
          <a:prstGeom prst="rect">
            <a:avLst/>
          </a:prstGeom>
          <a:solidFill>
            <a:srgbClr val="3B82F6"/>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023360"/>
            <a:ext cx="1737360" cy="731520"/>
          </a:xfrm>
          <a:prstGeom prst="rect">
            <a:avLst/>
          </a:prstGeom>
          <a:noFill/>
        </p:spPr>
        <p:txBody>
          <a:bodyPr wrap="square">
            <a:spAutoFit/>
          </a:bodyPr>
          <a:lstStyle/>
          <a:p>
            <a:pPr algn="ctr">
              <a:defRPr sz="1300" b="1">
                <a:solidFill>
                  <a:srgbClr val="FFFFFF"/>
                </a:solidFill>
              </a:defRPr>
            </a:pPr>
            <a:r>
              <a:t>Gurram Bhasker</a:t>
            </a:r>
          </a:p>
          <a:p>
            <a:r>
              <a:t>Jai Raj</a:t>
            </a:r>
          </a:p>
        </p:txBody>
      </p:sp>
      <p:sp>
        <p:nvSpPr>
          <p:cNvPr id="12" name="TextBox 11"/>
          <p:cNvSpPr txBox="1"/>
          <p:nvPr/>
        </p:nvSpPr>
        <p:spPr>
          <a:xfrm>
            <a:off x="594360" y="4800600"/>
            <a:ext cx="1737360" cy="365760"/>
          </a:xfrm>
          <a:prstGeom prst="rect">
            <a:avLst/>
          </a:prstGeom>
          <a:noFill/>
        </p:spPr>
        <p:txBody>
          <a:bodyPr wrap="square">
            <a:spAutoFit/>
          </a:bodyPr>
          <a:lstStyle/>
          <a:p>
            <a:pPr algn="ctr">
              <a:defRPr sz="1000" b="1">
                <a:solidFill>
                  <a:srgbClr val="FFFFFF"/>
                </a:solidFill>
              </a:defRPr>
            </a:pPr>
            <a:r>
              <a:t>24200304214</a:t>
            </a:r>
          </a:p>
        </p:txBody>
      </p:sp>
      <p:sp>
        <p:nvSpPr>
          <p:cNvPr id="13" name="Rectangle 12"/>
          <p:cNvSpPr/>
          <p:nvPr/>
        </p:nvSpPr>
        <p:spPr>
          <a:xfrm>
            <a:off x="2514600" y="3840480"/>
            <a:ext cx="1828800" cy="1463040"/>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60320" y="4023360"/>
            <a:ext cx="1737360" cy="731520"/>
          </a:xfrm>
          <a:prstGeom prst="rect">
            <a:avLst/>
          </a:prstGeom>
          <a:noFill/>
        </p:spPr>
        <p:txBody>
          <a:bodyPr wrap="square">
            <a:spAutoFit/>
          </a:bodyPr>
          <a:lstStyle/>
          <a:p>
            <a:pPr algn="ctr">
              <a:defRPr sz="1300" b="1">
                <a:solidFill>
                  <a:srgbClr val="FFFFFF"/>
                </a:solidFill>
              </a:defRPr>
            </a:pPr>
            <a:r>
              <a:t>Madupathy Hari</a:t>
            </a:r>
          </a:p>
          <a:p>
            <a:r>
              <a:t>Haran</a:t>
            </a:r>
          </a:p>
        </p:txBody>
      </p:sp>
      <p:sp>
        <p:nvSpPr>
          <p:cNvPr id="15" name="TextBox 14"/>
          <p:cNvSpPr txBox="1"/>
          <p:nvPr/>
        </p:nvSpPr>
        <p:spPr>
          <a:xfrm>
            <a:off x="2560320" y="4800600"/>
            <a:ext cx="1737360" cy="365760"/>
          </a:xfrm>
          <a:prstGeom prst="rect">
            <a:avLst/>
          </a:prstGeom>
          <a:noFill/>
        </p:spPr>
        <p:txBody>
          <a:bodyPr wrap="square">
            <a:spAutoFit/>
          </a:bodyPr>
          <a:lstStyle/>
          <a:p>
            <a:pPr algn="ctr">
              <a:defRPr sz="1000" b="1">
                <a:solidFill>
                  <a:srgbClr val="FFFFFF"/>
                </a:solidFill>
              </a:defRPr>
            </a:pPr>
            <a:r>
              <a:t>24200302243</a:t>
            </a:r>
          </a:p>
        </p:txBody>
      </p:sp>
      <p:sp>
        <p:nvSpPr>
          <p:cNvPr id="16" name="Rectangle 15"/>
          <p:cNvSpPr/>
          <p:nvPr/>
        </p:nvSpPr>
        <p:spPr>
          <a:xfrm>
            <a:off x="4480560" y="3840480"/>
            <a:ext cx="1828800" cy="1463040"/>
          </a:xfrm>
          <a:prstGeom prst="rect">
            <a:avLst/>
          </a:prstGeom>
          <a:solidFill>
            <a:srgbClr val="A855F7"/>
          </a:solidFill>
          <a:ln>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4023360"/>
            <a:ext cx="1737360" cy="731520"/>
          </a:xfrm>
          <a:prstGeom prst="rect">
            <a:avLst/>
          </a:prstGeom>
          <a:noFill/>
        </p:spPr>
        <p:txBody>
          <a:bodyPr wrap="square">
            <a:spAutoFit/>
          </a:bodyPr>
          <a:lstStyle/>
          <a:p>
            <a:pPr algn="ctr">
              <a:defRPr sz="1300" b="1">
                <a:solidFill>
                  <a:srgbClr val="FFFFFF"/>
                </a:solidFill>
              </a:defRPr>
            </a:pPr>
            <a:r>
              <a:t>Marisa Aditya</a:t>
            </a:r>
          </a:p>
          <a:p>
            <a:r>
              <a:t>Vardhan</a:t>
            </a:r>
          </a:p>
        </p:txBody>
      </p:sp>
      <p:sp>
        <p:nvSpPr>
          <p:cNvPr id="18" name="TextBox 17"/>
          <p:cNvSpPr txBox="1"/>
          <p:nvPr/>
        </p:nvSpPr>
        <p:spPr>
          <a:xfrm>
            <a:off x="4526280" y="4800600"/>
            <a:ext cx="1737360" cy="365760"/>
          </a:xfrm>
          <a:prstGeom prst="rect">
            <a:avLst/>
          </a:prstGeom>
          <a:noFill/>
        </p:spPr>
        <p:txBody>
          <a:bodyPr wrap="square">
            <a:spAutoFit/>
          </a:bodyPr>
          <a:lstStyle/>
          <a:p>
            <a:pPr algn="ctr">
              <a:defRPr sz="1000" b="1">
                <a:solidFill>
                  <a:srgbClr val="FFFFFF"/>
                </a:solidFill>
              </a:defRPr>
            </a:pPr>
            <a:r>
              <a:t>24200900094</a:t>
            </a:r>
          </a:p>
        </p:txBody>
      </p:sp>
      <p:sp>
        <p:nvSpPr>
          <p:cNvPr id="19" name="Rectangle 18"/>
          <p:cNvSpPr/>
          <p:nvPr/>
        </p:nvSpPr>
        <p:spPr>
          <a:xfrm>
            <a:off x="6446520" y="3840480"/>
            <a:ext cx="1828800" cy="1463040"/>
          </a:xfrm>
          <a:prstGeom prst="rect">
            <a:avLst/>
          </a:prstGeom>
          <a:solidFill>
            <a:srgbClr val="F97316"/>
          </a:solidFill>
          <a:ln>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4023360"/>
            <a:ext cx="1737360" cy="731520"/>
          </a:xfrm>
          <a:prstGeom prst="rect">
            <a:avLst/>
          </a:prstGeom>
          <a:noFill/>
        </p:spPr>
        <p:txBody>
          <a:bodyPr wrap="square">
            <a:spAutoFit/>
          </a:bodyPr>
          <a:lstStyle/>
          <a:p>
            <a:pPr algn="ctr">
              <a:defRPr sz="1300" b="1">
                <a:solidFill>
                  <a:srgbClr val="FFFFFF"/>
                </a:solidFill>
              </a:defRPr>
            </a:pPr>
            <a:r>
              <a:t>Boreddy Jayasimha</a:t>
            </a:r>
          </a:p>
          <a:p>
            <a:r>
              <a:t>Reddy</a:t>
            </a:r>
          </a:p>
        </p:txBody>
      </p:sp>
      <p:sp>
        <p:nvSpPr>
          <p:cNvPr id="21" name="TextBox 20"/>
          <p:cNvSpPr txBox="1"/>
          <p:nvPr/>
        </p:nvSpPr>
        <p:spPr>
          <a:xfrm>
            <a:off x="6492240" y="4800600"/>
            <a:ext cx="1737360" cy="365760"/>
          </a:xfrm>
          <a:prstGeom prst="rect">
            <a:avLst/>
          </a:prstGeom>
          <a:noFill/>
        </p:spPr>
        <p:txBody>
          <a:bodyPr wrap="square">
            <a:spAutoFit/>
          </a:bodyPr>
          <a:lstStyle/>
          <a:p>
            <a:pPr algn="ctr">
              <a:defRPr sz="1000" b="1">
                <a:solidFill>
                  <a:srgbClr val="FFFFFF"/>
                </a:solidFill>
              </a:defRPr>
            </a:pPr>
            <a:r>
              <a:t>24200800035</a:t>
            </a:r>
          </a:p>
        </p:txBody>
      </p:sp>
    </p:spTree>
  </p:cSld>
  <p:clrMapOvr>
    <a:masterClrMapping/>
  </p:clrMapOvr>
  <p:transition spd="med">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a:extLst>
              <a:ext uri="{FF2B5EF4-FFF2-40B4-BE49-F238E27FC236}">
                <a16:creationId xmlns:a16="http://schemas.microsoft.com/office/drawing/2014/main" id="{9D4E27E7-2C9B-0D1F-0513-1EBB070C857F}"/>
              </a:ext>
            </a:extLst>
          </p:cNvPr>
          <p:cNvSpPr txBox="1"/>
          <p:nvPr/>
        </p:nvSpPr>
        <p:spPr>
          <a:xfrm>
            <a:off x="436983" y="1004016"/>
            <a:ext cx="11318033" cy="5632311"/>
          </a:xfrm>
          <a:prstGeom prst="rect">
            <a:avLst/>
          </a:prstGeom>
          <a:noFill/>
        </p:spPr>
        <p:txBody>
          <a:bodyPr wrap="square" rtlCol="0">
            <a:spAutoFit/>
          </a:bodyPr>
          <a:lstStyle/>
          <a:p>
            <a:pPr algn="just"/>
            <a:r>
              <a:rPr lang="en-US" sz="2400" dirty="0"/>
              <a:t>In the aviation industry, handling passenger feedback and complaints efficiently is a significant challenge due to the large number of daily users. Airlines receive a high volume of feedback, making manual processing slow and difficult to manage.</a:t>
            </a:r>
          </a:p>
          <a:p>
            <a:pPr algn="just"/>
            <a:endParaRPr lang="en-US" sz="2400" dirty="0"/>
          </a:p>
          <a:p>
            <a:pPr algn="just"/>
            <a:r>
              <a:rPr lang="en-US" sz="2400" dirty="0"/>
              <a:t>Traditional systems often depend on human effort, which can lead to delays, errors, and inconsistent responses. As a result, important issues may not be addressed on time, affecting customer satisfaction. There is a growing need for a smarter system that can process and analyze feedback automatically.</a:t>
            </a:r>
          </a:p>
          <a:p>
            <a:pPr algn="just"/>
            <a:endParaRPr lang="en-US" sz="2400" dirty="0"/>
          </a:p>
          <a:p>
            <a:pPr algn="just"/>
            <a:r>
              <a:rPr lang="en-US" sz="2400" dirty="0"/>
              <a:t>An intelligent approach can help identify critical complaints quickly and prioritize them effectively. By integrating basic AI techniques, the system can understand user sentiment and intent. This ensures better decision-making and faster resolution of issues. Our project aims to solve these problems by introducing a smart complaint management system.</a:t>
            </a:r>
          </a:p>
          <a:p>
            <a:pPr algn="just"/>
            <a:endParaRPr lang="en-IN" sz="2400" dirty="0"/>
          </a:p>
        </p:txBody>
      </p:sp>
    </p:spTree>
    <p:extLst>
      <p:ext uri="{BB962C8B-B14F-4D97-AF65-F5344CB8AC3E}">
        <p14:creationId xmlns:p14="http://schemas.microsoft.com/office/powerpoint/2010/main" val="1672422596"/>
      </p:ext>
    </p:extLst>
  </p:cSld>
  <p:clrMapOvr>
    <a:masterClrMapping/>
  </p:clrMapOvr>
  <p:transition spd="med">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IN" sz="3200" b="1" dirty="0">
                <a:solidFill>
                  <a:schemeClr val="bg1"/>
                </a:solidFill>
              </a:rPr>
              <a:t>Solution</a:t>
            </a:r>
            <a:endParaRPr lang="en-US" sz="3200" b="1" dirty="0">
              <a:solidFill>
                <a:schemeClr val="bg1"/>
              </a:solidFill>
            </a:endParaRPr>
          </a:p>
        </p:txBody>
      </p:sp>
      <p:sp>
        <p:nvSpPr>
          <p:cNvPr id="7" name="Rectangle 2">
            <a:extLst>
              <a:ext uri="{FF2B5EF4-FFF2-40B4-BE49-F238E27FC236}">
                <a16:creationId xmlns:a16="http://schemas.microsoft.com/office/drawing/2014/main" id="{97C6B41F-6F19-FDB7-86F1-D0E463A04750}"/>
              </a:ext>
            </a:extLst>
          </p:cNvPr>
          <p:cNvSpPr>
            <a:spLocks noChangeArrowheads="1"/>
          </p:cNvSpPr>
          <p:nvPr/>
        </p:nvSpPr>
        <p:spPr bwMode="auto">
          <a:xfrm>
            <a:off x="380999" y="1004016"/>
            <a:ext cx="114300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sz="2400" dirty="0"/>
              <a:t>Our project proposes an intelligent complaint management system designed to automate and improve the handling of passenger feedback. The system allows users to submit feedback and complaints through a structured and user-friendly interface.</a:t>
            </a:r>
          </a:p>
          <a:p>
            <a:pPr lvl="0" algn="just" eaLnBrk="0" fontAlgn="base" hangingPunct="0">
              <a:spcBef>
                <a:spcPct val="0"/>
              </a:spcBef>
              <a:spcAft>
                <a:spcPct val="0"/>
              </a:spcAft>
            </a:pPr>
            <a:endParaRPr lang="en-US" sz="2400" dirty="0"/>
          </a:p>
          <a:p>
            <a:pPr lvl="0" algn="just" eaLnBrk="0" fontAlgn="base" hangingPunct="0">
              <a:spcBef>
                <a:spcPct val="0"/>
              </a:spcBef>
              <a:spcAft>
                <a:spcPct val="0"/>
              </a:spcAft>
            </a:pPr>
            <a:r>
              <a:rPr lang="en-US" sz="2400" dirty="0"/>
              <a:t>It then analyzes the input using keyword detection and sentiment analysis techniques. Based on this analysis, each complaint is automatically classified and assigned a priority level. High-priority issues are highlighted so that they can be addressed first.</a:t>
            </a:r>
          </a:p>
          <a:p>
            <a:pPr lvl="0" algn="just" eaLnBrk="0" fontAlgn="base" hangingPunct="0">
              <a:spcBef>
                <a:spcPct val="0"/>
              </a:spcBef>
              <a:spcAft>
                <a:spcPct val="0"/>
              </a:spcAft>
            </a:pPr>
            <a:endParaRPr lang="en-US" sz="2400" dirty="0"/>
          </a:p>
          <a:p>
            <a:pPr lvl="0" algn="just" eaLnBrk="0" fontAlgn="base" hangingPunct="0">
              <a:spcBef>
                <a:spcPct val="0"/>
              </a:spcBef>
              <a:spcAft>
                <a:spcPct val="0"/>
              </a:spcAft>
            </a:pPr>
            <a:r>
              <a:rPr lang="en-US" sz="2400" dirty="0"/>
              <a:t>The system also suggests possible resolution steps to assist administrators in decision-making. On the admin side, all complaints are displayed in an organized and easy-to-understand format.</a:t>
            </a:r>
          </a:p>
          <a:p>
            <a:pPr lvl="0" algn="just" eaLnBrk="0" fontAlgn="base" hangingPunct="0">
              <a:spcBef>
                <a:spcPct val="0"/>
              </a:spcBef>
              <a:spcAft>
                <a:spcPct val="0"/>
              </a:spcAft>
            </a:pPr>
            <a:endParaRPr lang="en-US" sz="2400" dirty="0"/>
          </a:p>
          <a:p>
            <a:pPr lvl="0" algn="just" eaLnBrk="0" fontAlgn="base" hangingPunct="0">
              <a:spcBef>
                <a:spcPct val="0"/>
              </a:spcBef>
              <a:spcAft>
                <a:spcPct val="0"/>
              </a:spcAft>
            </a:pPr>
            <a:r>
              <a:rPr lang="en-US" sz="2400" dirty="0"/>
              <a:t>This helps in tracking, managing, and responding to issues efficiently. Overall, the solution ensures faster response times, better resource management, and improved customer satisfaction.</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spd="med">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IN" sz="3200" b="1" dirty="0">
                <a:solidFill>
                  <a:schemeClr val="bg1"/>
                </a:solidFill>
              </a:rPr>
              <a:t>Working+Architecture</a:t>
            </a:r>
            <a:endParaRPr lang="en-US" sz="3200" b="1" dirty="0">
              <a:solidFill>
                <a:schemeClr val="bg1"/>
              </a:solidFill>
            </a:endParaRPr>
          </a:p>
        </p:txBody>
      </p:sp>
      <p:sp>
        <p:nvSpPr>
          <p:cNvPr id="4" name="TextBox 3">
            <a:extLst>
              <a:ext uri="{FF2B5EF4-FFF2-40B4-BE49-F238E27FC236}">
                <a16:creationId xmlns:a16="http://schemas.microsoft.com/office/drawing/2014/main" id="{7F1B9444-AC6B-6B28-C7B5-34D50D7DA596}"/>
              </a:ext>
            </a:extLst>
          </p:cNvPr>
          <p:cNvSpPr txBox="1"/>
          <p:nvPr/>
        </p:nvSpPr>
        <p:spPr>
          <a:xfrm>
            <a:off x="432316" y="1024011"/>
            <a:ext cx="11327363" cy="2677656"/>
          </a:xfrm>
          <a:prstGeom prst="rect">
            <a:avLst/>
          </a:prstGeom>
          <a:noFill/>
        </p:spPr>
        <p:txBody>
          <a:bodyPr wrap="square" rtlCol="0">
            <a:spAutoFit/>
          </a:bodyPr>
          <a:lstStyle/>
          <a:p>
            <a:pPr algn="just"/>
            <a:r>
              <a:rPr lang="en-US" sz="2400" dirty="0"/>
              <a:t>This slide represents the main dashboard of the Airline Customer Feedback System from the admin perspective. It provides a centralized view of all customer cases, including the number of recent cases, high-priority issues, and resolved complaints. The system also displays a real-time status timeline that shows the lifecycle of each case, starting from submission to resolution. One of the key features visible here is the smart triage mechanism, where each complaint is automatically categorized and assigned a priority based on keywords and sentiment analysis.</a:t>
            </a:r>
            <a:endParaRPr lang="en-IN" sz="2400" dirty="0"/>
          </a:p>
        </p:txBody>
      </p:sp>
      <p:pic>
        <p:nvPicPr>
          <p:cNvPr id="7" name="Picture 6">
            <a:extLst>
              <a:ext uri="{FF2B5EF4-FFF2-40B4-BE49-F238E27FC236}">
                <a16:creationId xmlns:a16="http://schemas.microsoft.com/office/drawing/2014/main" id="{1361FF31-2CA5-44BF-D8CC-101746AE9903}"/>
              </a:ext>
            </a:extLst>
          </p:cNvPr>
          <p:cNvPicPr>
            <a:picLocks noChangeAspect="1"/>
          </p:cNvPicPr>
          <p:nvPr/>
        </p:nvPicPr>
        <p:blipFill>
          <a:blip r:embed="rId2"/>
          <a:stretch>
            <a:fillRect/>
          </a:stretch>
        </p:blipFill>
        <p:spPr>
          <a:xfrm>
            <a:off x="940540" y="3701667"/>
            <a:ext cx="4949767" cy="3016374"/>
          </a:xfrm>
          <a:prstGeom prst="rect">
            <a:avLst/>
          </a:prstGeom>
        </p:spPr>
      </p:pic>
      <p:pic>
        <p:nvPicPr>
          <p:cNvPr id="9" name="Picture 8">
            <a:extLst>
              <a:ext uri="{FF2B5EF4-FFF2-40B4-BE49-F238E27FC236}">
                <a16:creationId xmlns:a16="http://schemas.microsoft.com/office/drawing/2014/main" id="{1B24A20A-7C5F-5A3D-7A5E-40E37449C045}"/>
              </a:ext>
            </a:extLst>
          </p:cNvPr>
          <p:cNvPicPr>
            <a:picLocks noChangeAspect="1"/>
          </p:cNvPicPr>
          <p:nvPr/>
        </p:nvPicPr>
        <p:blipFill>
          <a:blip r:embed="rId3"/>
          <a:stretch>
            <a:fillRect/>
          </a:stretch>
        </p:blipFill>
        <p:spPr>
          <a:xfrm>
            <a:off x="6979299" y="3701667"/>
            <a:ext cx="4272162" cy="3016374"/>
          </a:xfrm>
          <a:prstGeom prst="rect">
            <a:avLst/>
          </a:prstGeom>
        </p:spPr>
      </p:pic>
    </p:spTree>
    <p:extLst>
      <p:ext uri="{BB962C8B-B14F-4D97-AF65-F5344CB8AC3E}">
        <p14:creationId xmlns:p14="http://schemas.microsoft.com/office/powerpoint/2010/main" val="3441026644"/>
      </p:ext>
    </p:extLst>
  </p:cSld>
  <p:clrMapOvr>
    <a:masterClrMapping/>
  </p:clrMapOvr>
  <p:transition spd="med">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2553191" y="221673"/>
            <a:ext cx="6871855"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1" y="204802"/>
            <a:ext cx="6871855" cy="523220"/>
          </a:xfrm>
          <a:prstGeom prst="rect">
            <a:avLst/>
          </a:prstGeom>
          <a:noFill/>
        </p:spPr>
        <p:txBody>
          <a:bodyPr wrap="square" rtlCol="0">
            <a:spAutoFit/>
          </a:bodyPr>
          <a:lstStyle/>
          <a:p>
            <a:pPr algn="ctr"/>
            <a:r>
              <a:rPr lang="en-IN" sz="2800" b="1" dirty="0">
                <a:solidFill>
                  <a:schemeClr val="bg1"/>
                </a:solidFill>
              </a:rPr>
              <a:t>Feedback &amp; Complaint Submission</a:t>
            </a:r>
            <a:endParaRPr lang="en-US" sz="2800" b="1" dirty="0">
              <a:solidFill>
                <a:schemeClr val="bg1"/>
              </a:solidFill>
            </a:endParaRPr>
          </a:p>
        </p:txBody>
      </p:sp>
      <p:pic>
        <p:nvPicPr>
          <p:cNvPr id="9" name="Picture 8">
            <a:extLst>
              <a:ext uri="{FF2B5EF4-FFF2-40B4-BE49-F238E27FC236}">
                <a16:creationId xmlns:a16="http://schemas.microsoft.com/office/drawing/2014/main" id="{63AC04C9-A8D9-2198-7FA7-559EA9B7B7B4}"/>
              </a:ext>
            </a:extLst>
          </p:cNvPr>
          <p:cNvPicPr>
            <a:picLocks noChangeAspect="1"/>
          </p:cNvPicPr>
          <p:nvPr/>
        </p:nvPicPr>
        <p:blipFill>
          <a:blip r:embed="rId2"/>
          <a:stretch>
            <a:fillRect/>
          </a:stretch>
        </p:blipFill>
        <p:spPr>
          <a:xfrm>
            <a:off x="10818466" y="4698383"/>
            <a:ext cx="1247949" cy="247685"/>
          </a:xfrm>
          <a:prstGeom prst="rect">
            <a:avLst/>
          </a:prstGeom>
        </p:spPr>
      </p:pic>
      <p:sp>
        <p:nvSpPr>
          <p:cNvPr id="4" name="TextBox 3">
            <a:extLst>
              <a:ext uri="{FF2B5EF4-FFF2-40B4-BE49-F238E27FC236}">
                <a16:creationId xmlns:a16="http://schemas.microsoft.com/office/drawing/2014/main" id="{9032ED63-0930-E368-A732-1EE7678CEF4D}"/>
              </a:ext>
            </a:extLst>
          </p:cNvPr>
          <p:cNvSpPr txBox="1"/>
          <p:nvPr/>
        </p:nvSpPr>
        <p:spPr>
          <a:xfrm>
            <a:off x="227044" y="1007706"/>
            <a:ext cx="11737910" cy="2308324"/>
          </a:xfrm>
          <a:prstGeom prst="rect">
            <a:avLst/>
          </a:prstGeom>
          <a:noFill/>
        </p:spPr>
        <p:txBody>
          <a:bodyPr wrap="square" rtlCol="0">
            <a:spAutoFit/>
          </a:bodyPr>
          <a:lstStyle/>
          <a:p>
            <a:pPr algn="just"/>
            <a:r>
              <a:rPr lang="en-US" sz="2400" dirty="0"/>
              <a:t>This shows how users submit feedback and complaints through a simple and structured form. The system collects key details such as passenger information, flight number, journey date, and message. As the user enters their message, the system automatically analyzes it using keyword detection and sentiment analysis. It then classifies the issue and assigns a priority level based on urgency. For complaints, a suggested resolution plan is also generated. This reduces manual effort and helps in faster decision-making.</a:t>
            </a:r>
          </a:p>
        </p:txBody>
      </p:sp>
      <p:pic>
        <p:nvPicPr>
          <p:cNvPr id="7" name="Picture 6">
            <a:extLst>
              <a:ext uri="{FF2B5EF4-FFF2-40B4-BE49-F238E27FC236}">
                <a16:creationId xmlns:a16="http://schemas.microsoft.com/office/drawing/2014/main" id="{7A7E3AA0-10AB-6D88-3A57-4CBA8818DE6D}"/>
              </a:ext>
            </a:extLst>
          </p:cNvPr>
          <p:cNvPicPr>
            <a:picLocks noChangeAspect="1"/>
          </p:cNvPicPr>
          <p:nvPr/>
        </p:nvPicPr>
        <p:blipFill>
          <a:blip r:embed="rId3"/>
          <a:stretch>
            <a:fillRect/>
          </a:stretch>
        </p:blipFill>
        <p:spPr>
          <a:xfrm>
            <a:off x="669870" y="3316030"/>
            <a:ext cx="4741885" cy="3380224"/>
          </a:xfrm>
          <a:prstGeom prst="rect">
            <a:avLst/>
          </a:prstGeom>
        </p:spPr>
      </p:pic>
      <p:pic>
        <p:nvPicPr>
          <p:cNvPr id="11" name="Picture 10">
            <a:extLst>
              <a:ext uri="{FF2B5EF4-FFF2-40B4-BE49-F238E27FC236}">
                <a16:creationId xmlns:a16="http://schemas.microsoft.com/office/drawing/2014/main" id="{B0179943-F5F8-1B94-1EB6-39733FCE5604}"/>
              </a:ext>
            </a:extLst>
          </p:cNvPr>
          <p:cNvPicPr>
            <a:picLocks noChangeAspect="1"/>
          </p:cNvPicPr>
          <p:nvPr/>
        </p:nvPicPr>
        <p:blipFill>
          <a:blip r:embed="rId4"/>
          <a:stretch>
            <a:fillRect/>
          </a:stretch>
        </p:blipFill>
        <p:spPr>
          <a:xfrm>
            <a:off x="6514540" y="3316030"/>
            <a:ext cx="5007590" cy="3380224"/>
          </a:xfrm>
          <a:prstGeom prst="rect">
            <a:avLst/>
          </a:prstGeom>
        </p:spPr>
      </p:pic>
    </p:spTree>
  </p:cSld>
  <p:clrMapOvr>
    <a:masterClrMapping/>
  </p:clrMapOvr>
  <p:transition spd="med">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533826" y="224632"/>
            <a:ext cx="6031950"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447373" y="238073"/>
            <a:ext cx="6204856" cy="461665"/>
          </a:xfrm>
          <a:prstGeom prst="rect">
            <a:avLst/>
          </a:prstGeom>
          <a:noFill/>
        </p:spPr>
        <p:txBody>
          <a:bodyPr wrap="square" rtlCol="0">
            <a:spAutoFit/>
          </a:bodyPr>
          <a:lstStyle/>
          <a:p>
            <a:pPr algn="ctr"/>
            <a:r>
              <a:rPr lang="en-IN" sz="2400" b="1" dirty="0">
                <a:solidFill>
                  <a:schemeClr val="bg1"/>
                </a:solidFill>
              </a:rPr>
              <a:t>Complaint Management &amp; Admin Response</a:t>
            </a:r>
            <a:endParaRPr lang="en-US" sz="2400" b="1" dirty="0">
              <a:solidFill>
                <a:schemeClr val="bg1"/>
              </a:solidFill>
            </a:endParaRPr>
          </a:p>
        </p:txBody>
      </p:sp>
      <p:sp>
        <p:nvSpPr>
          <p:cNvPr id="2" name="TextBox 1">
            <a:extLst>
              <a:ext uri="{FF2B5EF4-FFF2-40B4-BE49-F238E27FC236}">
                <a16:creationId xmlns:a16="http://schemas.microsoft.com/office/drawing/2014/main" id="{76EA761A-70C6-4388-1D7B-6DF30241D610}"/>
              </a:ext>
            </a:extLst>
          </p:cNvPr>
          <p:cNvSpPr txBox="1"/>
          <p:nvPr/>
        </p:nvSpPr>
        <p:spPr>
          <a:xfrm>
            <a:off x="531845" y="989605"/>
            <a:ext cx="10888823" cy="2308324"/>
          </a:xfrm>
          <a:prstGeom prst="rect">
            <a:avLst/>
          </a:prstGeom>
          <a:noFill/>
        </p:spPr>
        <p:txBody>
          <a:bodyPr wrap="square" rtlCol="0">
            <a:spAutoFit/>
          </a:bodyPr>
          <a:lstStyle/>
          <a:p>
            <a:pPr algn="just"/>
            <a:r>
              <a:rPr lang="en-US" sz="2400" dirty="0"/>
              <a:t>This slide shows how complaints are managed on the admin side after submission. All complaints are displayed in a structured format along with their assigned priority levels. This helps the admin easily identify and focus on high-priority issues first. The system organizes complaints efficiently, reducing confusion and delay. Admins can review each complaint in detail and provide appropriate responses. This ensures timely resolution and improves overall user satisfaction.</a:t>
            </a:r>
            <a:endParaRPr lang="en-IN" sz="2400" dirty="0"/>
          </a:p>
        </p:txBody>
      </p:sp>
      <p:pic>
        <p:nvPicPr>
          <p:cNvPr id="6" name="Picture 5">
            <a:extLst>
              <a:ext uri="{FF2B5EF4-FFF2-40B4-BE49-F238E27FC236}">
                <a16:creationId xmlns:a16="http://schemas.microsoft.com/office/drawing/2014/main" id="{A6F8748A-0463-5605-A3EA-A2EE4860A326}"/>
              </a:ext>
            </a:extLst>
          </p:cNvPr>
          <p:cNvPicPr>
            <a:picLocks noChangeAspect="1"/>
          </p:cNvPicPr>
          <p:nvPr/>
        </p:nvPicPr>
        <p:blipFill>
          <a:blip r:embed="rId2"/>
          <a:stretch>
            <a:fillRect/>
          </a:stretch>
        </p:blipFill>
        <p:spPr>
          <a:xfrm>
            <a:off x="667885" y="3419229"/>
            <a:ext cx="5428115" cy="3214139"/>
          </a:xfrm>
          <a:prstGeom prst="rect">
            <a:avLst/>
          </a:prstGeom>
        </p:spPr>
      </p:pic>
      <p:pic>
        <p:nvPicPr>
          <p:cNvPr id="9" name="Picture 8">
            <a:extLst>
              <a:ext uri="{FF2B5EF4-FFF2-40B4-BE49-F238E27FC236}">
                <a16:creationId xmlns:a16="http://schemas.microsoft.com/office/drawing/2014/main" id="{37A8E2E1-C154-1C1D-6549-E534EDBFE80C}"/>
              </a:ext>
            </a:extLst>
          </p:cNvPr>
          <p:cNvPicPr>
            <a:picLocks noChangeAspect="1"/>
          </p:cNvPicPr>
          <p:nvPr/>
        </p:nvPicPr>
        <p:blipFill>
          <a:blip r:embed="rId3"/>
          <a:stretch>
            <a:fillRect/>
          </a:stretch>
        </p:blipFill>
        <p:spPr>
          <a:xfrm>
            <a:off x="6549801" y="3419229"/>
            <a:ext cx="4870867" cy="3214139"/>
          </a:xfrm>
          <a:prstGeom prst="rect">
            <a:avLst/>
          </a:prstGeom>
        </p:spPr>
      </p:pic>
    </p:spTree>
  </p:cSld>
  <p:clrMapOvr>
    <a:masterClrMapping/>
  </p:clrMapOvr>
  <p:transition spd="med">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90C24F-1C99-4054-F387-F3F260012E3A}"/>
              </a:ext>
            </a:extLst>
          </p:cNvPr>
          <p:cNvSpPr txBox="1"/>
          <p:nvPr/>
        </p:nvSpPr>
        <p:spPr>
          <a:xfrm>
            <a:off x="413656" y="966520"/>
            <a:ext cx="11364686" cy="3046988"/>
          </a:xfrm>
          <a:prstGeom prst="rect">
            <a:avLst/>
          </a:prstGeom>
          <a:noFill/>
        </p:spPr>
        <p:txBody>
          <a:bodyPr wrap="square">
            <a:spAutoFit/>
          </a:bodyPr>
          <a:lstStyle/>
          <a:p>
            <a:pPr algn="just"/>
            <a:r>
              <a:rPr lang="en-US" sz="2400" dirty="0"/>
              <a:t>This slide demonstrates the backend integration of the system where all user complaints are stored in a structured format. Whenever a user submits feedback or a complaint, the data is automatically sent to the backend and recorded in an Excel sheet. Each entry includes important details such as passenger information, complaint message, priority level, and timestamp. The Excel-based storage makes it easy to track, filter, and manage complaints efficiently. It also helps in maintaining transparency and accountability in the system. Overall, this integration connects the frontend and backend seamlessly, enabling smooth data flow and reliable storage.</a:t>
            </a:r>
            <a:endParaRPr lang="en-IN" sz="2400" dirty="0"/>
          </a:p>
        </p:txBody>
      </p:sp>
      <p:sp>
        <p:nvSpPr>
          <p:cNvPr id="4" name="Rectangle: Rounded Corners 3">
            <a:extLst>
              <a:ext uri="{FF2B5EF4-FFF2-40B4-BE49-F238E27FC236}">
                <a16:creationId xmlns:a16="http://schemas.microsoft.com/office/drawing/2014/main" id="{28B97481-DC22-BEC3-BC3A-B7699FC8BC07}"/>
              </a:ext>
            </a:extLst>
          </p:cNvPr>
          <p:cNvSpPr/>
          <p:nvPr/>
        </p:nvSpPr>
        <p:spPr>
          <a:xfrm>
            <a:off x="3704970" y="237087"/>
            <a:ext cx="4782057"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549A192-10ED-CBFB-2BC6-C82E891236BA}"/>
              </a:ext>
            </a:extLst>
          </p:cNvPr>
          <p:cNvSpPr txBox="1"/>
          <p:nvPr/>
        </p:nvSpPr>
        <p:spPr>
          <a:xfrm>
            <a:off x="4523011" y="308229"/>
            <a:ext cx="3145973" cy="461665"/>
          </a:xfrm>
          <a:prstGeom prst="rect">
            <a:avLst/>
          </a:prstGeom>
          <a:noFill/>
        </p:spPr>
        <p:txBody>
          <a:bodyPr wrap="square" rtlCol="0">
            <a:spAutoFit/>
          </a:bodyPr>
          <a:lstStyle/>
          <a:p>
            <a:r>
              <a:rPr lang="en-IN" sz="2400" b="1" dirty="0">
                <a:solidFill>
                  <a:schemeClr val="bg1"/>
                </a:solidFill>
              </a:rPr>
              <a:t>Backend Data Handling</a:t>
            </a:r>
          </a:p>
        </p:txBody>
      </p:sp>
      <p:pic>
        <p:nvPicPr>
          <p:cNvPr id="7" name="Picture 6">
            <a:extLst>
              <a:ext uri="{FF2B5EF4-FFF2-40B4-BE49-F238E27FC236}">
                <a16:creationId xmlns:a16="http://schemas.microsoft.com/office/drawing/2014/main" id="{2852DA20-3730-F5ED-7E9C-218ACD0F21E5}"/>
              </a:ext>
            </a:extLst>
          </p:cNvPr>
          <p:cNvPicPr>
            <a:picLocks noChangeAspect="1"/>
          </p:cNvPicPr>
          <p:nvPr/>
        </p:nvPicPr>
        <p:blipFill>
          <a:blip r:embed="rId2"/>
          <a:stretch>
            <a:fillRect/>
          </a:stretch>
        </p:blipFill>
        <p:spPr>
          <a:xfrm>
            <a:off x="2577510" y="4138991"/>
            <a:ext cx="7036973" cy="2462419"/>
          </a:xfrm>
          <a:prstGeom prst="rect">
            <a:avLst/>
          </a:prstGeom>
          <a:ln w="12700">
            <a:solidFill>
              <a:schemeClr val="tx1"/>
            </a:solidFill>
          </a:ln>
        </p:spPr>
      </p:pic>
    </p:spTree>
    <p:extLst>
      <p:ext uri="{BB962C8B-B14F-4D97-AF65-F5344CB8AC3E}">
        <p14:creationId xmlns:p14="http://schemas.microsoft.com/office/powerpoint/2010/main" val="2289907155"/>
      </p:ext>
    </p:extLst>
  </p:cSld>
  <p:clrMapOvr>
    <a:masterClrMapping/>
  </p:clrMapOvr>
  <p:transition spd="med">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60237" y="302403"/>
            <a:ext cx="4782057"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4379527" y="342768"/>
            <a:ext cx="3432941" cy="523220"/>
          </a:xfrm>
          <a:prstGeom prst="rect">
            <a:avLst/>
          </a:prstGeom>
          <a:noFill/>
        </p:spPr>
        <p:txBody>
          <a:bodyPr wrap="square" rtlCol="0">
            <a:spAutoFit/>
          </a:bodyPr>
          <a:lstStyle/>
          <a:p>
            <a:pPr algn="ctr"/>
            <a:r>
              <a:rPr lang="en-IN" sz="2800" b="1" dirty="0">
                <a:solidFill>
                  <a:schemeClr val="bg1"/>
                </a:solidFill>
              </a:rPr>
              <a:t>Conclusion</a:t>
            </a:r>
            <a:endParaRPr lang="en-US" sz="2800" b="1" dirty="0">
              <a:solidFill>
                <a:schemeClr val="bg1"/>
              </a:solidFill>
            </a:endParaRPr>
          </a:p>
        </p:txBody>
      </p:sp>
      <p:sp>
        <p:nvSpPr>
          <p:cNvPr id="4" name="TextBox 3">
            <a:extLst>
              <a:ext uri="{FF2B5EF4-FFF2-40B4-BE49-F238E27FC236}">
                <a16:creationId xmlns:a16="http://schemas.microsoft.com/office/drawing/2014/main" id="{03B0BE33-A0A9-C039-575F-22458FAF61EC}"/>
              </a:ext>
            </a:extLst>
          </p:cNvPr>
          <p:cNvSpPr txBox="1"/>
          <p:nvPr/>
        </p:nvSpPr>
        <p:spPr>
          <a:xfrm>
            <a:off x="473588" y="1252253"/>
            <a:ext cx="11355354" cy="5262979"/>
          </a:xfrm>
          <a:prstGeom prst="rect">
            <a:avLst/>
          </a:prstGeom>
          <a:noFill/>
        </p:spPr>
        <p:txBody>
          <a:bodyPr wrap="square" rtlCol="0">
            <a:spAutoFit/>
          </a:bodyPr>
          <a:lstStyle/>
          <a:p>
            <a:pPr algn="just"/>
            <a:r>
              <a:rPr lang="en-US" sz="2400" dirty="0"/>
              <a:t>Our project presents an efficient and intelligent approach to managing passenger feedback and complaints in the aviation industry. By integrating automation and basic AI techniques, the system simplifies the process of analyzing and prioritizing user input. It reduces the dependency on manual effort and minimizes delays in handling issues. </a:t>
            </a:r>
          </a:p>
          <a:p>
            <a:pPr algn="just"/>
            <a:endParaRPr lang="en-US" sz="2400" dirty="0"/>
          </a:p>
          <a:p>
            <a:pPr algn="just"/>
            <a:r>
              <a:rPr lang="en-US" sz="2400" dirty="0"/>
              <a:t>The priority-based classification ensures that critical problems are addressed quickly and effectively. The admin interface further helps in organizing and responding to complaints in a structured manner. This leads to improved operational efficiency and better decision-making. </a:t>
            </a:r>
          </a:p>
          <a:p>
            <a:pPr algn="just"/>
            <a:endParaRPr lang="en-US" sz="2400" dirty="0"/>
          </a:p>
          <a:p>
            <a:pPr algn="just"/>
            <a:r>
              <a:rPr lang="en-US" sz="2400" dirty="0"/>
              <a:t>Additionally, faster response times contribute to higher customer satisfaction and trust. The system demonstrates how technology can enhance service quality and streamline complaint management. Overall, it provides a scalable and practical solution for modern airline systems.</a:t>
            </a:r>
          </a:p>
        </p:txBody>
      </p:sp>
    </p:spTree>
    <p:extLst>
      <p:ext uri="{BB962C8B-B14F-4D97-AF65-F5344CB8AC3E}">
        <p14:creationId xmlns:p14="http://schemas.microsoft.com/office/powerpoint/2010/main" val="2292750904"/>
      </p:ext>
    </p:extLst>
  </p:cSld>
  <p:clrMapOvr>
    <a:masterClrMapping/>
  </p:clrMapOvr>
  <p:transition spd="med">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0"/>
            <a:ext cx="8229600" cy="914400"/>
          </a:xfrm>
          <a:prstGeom prst="rect">
            <a:avLst/>
          </a:prstGeom>
          <a:noFill/>
        </p:spPr>
        <p:txBody>
          <a:bodyPr wrap="none">
            <a:spAutoFit/>
          </a:bodyPr>
          <a:lstStyle/>
          <a:p>
            <a:pPr algn="ctr">
              <a:defRPr sz="7200" b="1">
                <a:solidFill>
                  <a:srgbClr val="990033"/>
                </a:solidFill>
              </a:defRPr>
            </a:pPr>
            <a:r>
              <a:t>Thank You</a:t>
            </a:r>
          </a:p>
        </p:txBody>
      </p:sp>
      <p:sp>
        <p:nvSpPr>
          <p:cNvPr id="3" name="TextBox 2"/>
          <p:cNvSpPr txBox="1"/>
          <p:nvPr/>
        </p:nvSpPr>
        <p:spPr>
          <a:xfrm>
            <a:off x="457200" y="2926080"/>
            <a:ext cx="8229600" cy="548640"/>
          </a:xfrm>
          <a:prstGeom prst="rect">
            <a:avLst/>
          </a:prstGeom>
          <a:noFill/>
        </p:spPr>
        <p:txBody>
          <a:bodyPr wrap="none">
            <a:spAutoFit/>
          </a:bodyPr>
          <a:lstStyle/>
          <a:p>
            <a:pPr algn="ctr">
              <a:defRPr sz="2000" b="1">
                <a:solidFill>
                  <a:srgbClr val="990033"/>
                </a:solidFill>
              </a:defRPr>
            </a:pPr>
            <a:r>
              <a:t>Airline Customer Feedback &amp; Complaint Resolution System</a:t>
            </a:r>
          </a:p>
        </p:txBody>
      </p:sp>
      <p:sp>
        <p:nvSpPr>
          <p:cNvPr id="4" name="TextBox 3"/>
          <p:cNvSpPr txBox="1"/>
          <p:nvPr/>
        </p:nvSpPr>
        <p:spPr>
          <a:xfrm>
            <a:off x="731520" y="3840480"/>
            <a:ext cx="7680960" cy="1463040"/>
          </a:xfrm>
          <a:prstGeom prst="rect">
            <a:avLst/>
          </a:prstGeom>
          <a:noFill/>
        </p:spPr>
        <p:txBody>
          <a:bodyPr wrap="square">
            <a:spAutoFit/>
          </a:bodyPr>
          <a:lstStyle/>
          <a:p>
            <a:pPr algn="ctr">
              <a:defRPr sz="1600" b="1">
                <a:solidFill>
                  <a:srgbClr val="000000"/>
                </a:solidFill>
              </a:defRPr>
            </a:pPr>
            <a:r>
              <a:t>Team Members</a:t>
            </a:r>
          </a:p>
          <a:p>
            <a:pPr algn="ctr">
              <a:defRPr sz="1300">
                <a:solidFill>
                  <a:srgbClr val="000000"/>
                </a:solidFill>
              </a:defRPr>
            </a:pPr>
            <a:r>
              <a:t>Gurram Bhasker Jai Raj (24200304214)  •  Madupathy Hari Haran (24200302243)</a:t>
            </a:r>
          </a:p>
          <a:p>
            <a:pPr algn="ctr">
              <a:defRPr sz="1300">
                <a:solidFill>
                  <a:srgbClr val="000000"/>
                </a:solidFill>
              </a:defRPr>
            </a:pPr>
            <a:r>
              <a:t>Marisa Aditya Vardhan (24200900094)  •  Boreddy Jayasimha Reddy (24200800035)</a:t>
            </a:r>
          </a:p>
          <a:p>
            <a:pPr algn="ctr">
              <a:defRPr sz="1300" b="1">
                <a:solidFill>
                  <a:srgbClr val="990033"/>
                </a:solidFill>
              </a:defRPr>
            </a:pPr>
            <a:r>
              <a:t>Guided by: Dr. S. Spandana</a:t>
            </a:r>
          </a:p>
        </p:txBody>
      </p:sp>
    </p:spTree>
    <p:extLst>
      <p:ext uri="{BB962C8B-B14F-4D97-AF65-F5344CB8AC3E}">
        <p14:creationId xmlns:p14="http://schemas.microsoft.com/office/powerpoint/2010/main" val="1313543476"/>
      </p:ext>
    </p:extLst>
  </p:cSld>
  <p:clrMapOvr>
    <a:masterClrMapping/>
  </p:clrMapOvr>
  <p:transition spd="med">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TotalTime>
  <Words>852</Words>
  <Application>Microsoft Office PowerPoint</Application>
  <PresentationFormat>Widescreen</PresentationFormat>
  <Paragraphs>41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       Full Stack Application Development (24SDCS02)  Airline Customer Feedback And Compliant Resolution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Sanchay Krishna G</cp:lastModifiedBy>
  <cp:revision>36</cp:revision>
  <dcterms:created xsi:type="dcterms:W3CDTF">2024-08-29T05:25:00Z</dcterms:created>
  <dcterms:modified xsi:type="dcterms:W3CDTF">2026-03-27T07:19:48Z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